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240" y="502920"/>
            <a:ext cx="1417320" cy="1417320"/>
          </a:xfrm>
          <a:prstGeom prst="ellipse">
            <a:avLst/>
          </a:prstGeom>
          <a:solidFill>
            <a:srgbClr val="B4D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51560"/>
            <a:ext cx="1097280" cy="1234440"/>
          </a:xfrm>
          <a:prstGeom prst="ellipse">
            <a:avLst/>
          </a:prstGeom>
          <a:solidFill>
            <a:srgbClr val="C8E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3840480"/>
            <a:ext cx="1691640" cy="1417320"/>
          </a:xfrm>
          <a:prstGeom prst="ellipse">
            <a:avLst/>
          </a:prstGeom>
          <a:solidFill>
            <a:srgbClr val="A5C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4480560"/>
            <a:ext cx="1097280" cy="1005840"/>
          </a:xfrm>
          <a:prstGeom prst="ellipse">
            <a:avLst/>
          </a:prstGeom>
          <a:solidFill>
            <a:srgbClr val="D2E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6263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Montserrat"/>
              </a:defRPr>
            </a:pPr>
            <a:r>
              <a:t>POS + PAYMENTS · PRICING STRATEGY</a:t>
            </a:r>
          </a:p>
          <a:p>
            <a:pPr algn="l">
              <a:spcBef>
                <a:spcPts val="1000"/>
              </a:spcBef>
              <a:defRPr sz="3800" b="1">
                <a:solidFill>
                  <a:srgbClr val="0F1F3D"/>
                </a:solidFill>
                <a:latin typeface="Montserrat"/>
              </a:defRPr>
            </a:pPr>
            <a:r>
              <a:t>Steering committee deck</a:t>
            </a:r>
          </a:p>
          <a:p>
            <a:pPr algn="l">
              <a:spcBef>
                <a:spcPts val="800"/>
              </a:spcBef>
              <a:defRPr sz="1600">
                <a:solidFill>
                  <a:srgbClr val="0F1F3D"/>
                </a:solidFill>
                <a:latin typeface="Roboto"/>
              </a:defRPr>
            </a:pPr>
            <a:r>
              <a:t>First readout — offline payments, PDV, and commercial roadmap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defRPr sz="1500" b="1">
                <a:solidFill>
                  <a:srgbClr val="0F1F3D"/>
                </a:solidFill>
                <a:latin typeface="Roboto"/>
              </a:defRPr>
            </a:pPr>
            <a:r>
              <a:t>Objectives: align expectations on next steps and long-term view; discuss pricing principles</a:t>
            </a:r>
          </a:p>
          <a:p>
            <a:pPr algn="l">
              <a:spcBef>
                <a:spcPts val="1800"/>
              </a:spcBef>
              <a:defRPr sz="1300">
                <a:solidFill>
                  <a:srgbClr val="475569"/>
                </a:solidFill>
                <a:latin typeface="Roboto"/>
              </a:defRPr>
            </a:pPr>
            <a:r>
              <a:t>March 2026</a:t>
            </a:r>
          </a:p>
          <a:p>
            <a:pPr algn="l">
              <a:spcBef>
                <a:spcPts val="2200"/>
              </a:spcBef>
              <a:defRPr sz="1200" b="1">
                <a:solidFill>
                  <a:srgbClr val="1E40AF"/>
                </a:solidFill>
                <a:latin typeface="Roboto"/>
              </a:defRPr>
            </a:pPr>
            <a:r>
              <a:t>Designed HTML deck (GitHub Pages)</a:t>
            </a:r>
          </a:p>
          <a:p>
            <a:pPr algn="l">
              <a:defRPr sz="1100">
                <a:solidFill>
                  <a:srgbClr val="0F1F3D"/>
                </a:solidFill>
                <a:latin typeface="Roboto"/>
              </a:defRPr>
            </a:pPr>
            <a:r>
              <a:t>https://henryjbpetry.github.io/pos_payments/pos-pricing-model/steering-committee-deck.html</a:t>
            </a:r>
          </a:p>
          <a:p>
            <a:pPr algn="l">
              <a:spcBef>
                <a:spcPts val="1000"/>
              </a:spcBef>
              <a:defRPr sz="1200" b="1">
                <a:solidFill>
                  <a:srgbClr val="475569"/>
                </a:solidFill>
                <a:latin typeface="Roboto"/>
              </a:defRPr>
            </a:pPr>
            <a:r>
              <a:t>Source file</a:t>
            </a:r>
          </a:p>
          <a:p>
            <a:pPr algn="l">
              <a:defRPr sz="1100">
                <a:solidFill>
                  <a:srgbClr val="1E40AF"/>
                </a:solidFill>
                <a:latin typeface="Roboto"/>
              </a:defRPr>
            </a:pPr>
            <a:r>
              <a:t>https://github.com/henryjbpetry/pos_payments/blob/main/pos-pricing-model/steering-committee-deck.html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POS · PRICING STRATEGY · 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CF0"/>
                </a:solidFill>
                <a:latin typeface="Montserrat"/>
              </a:defRPr>
            </a:pPr>
            <a:r>
              <a:t>Where we are — by country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3520440" cy="4892040"/>
          </a:xfrm>
          <a:prstGeom prst="rect">
            <a:avLst/>
          </a:prstGeom>
          <a:solidFill>
            <a:srgbClr val="1C2030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98448"/>
            <a:ext cx="31912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C55E"/>
                </a:solidFill>
                <a:latin typeface="Montserrat"/>
              </a:defRPr>
            </a:pPr>
            <a:r>
              <a:t>🇧🇷  Brazil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319125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0"/>
                </a:solidFill>
                <a:latin typeface="Roboto"/>
              </a:defRPr>
            </a:pPr>
            <a:r>
              <a:t>~99% toward Stone — pricing is the next big deliverable.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788920"/>
            <a:ext cx="3191256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Development: prioritizing work that overlaps multi-acquirer.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Partner: ~99% Stone — tech simplicity, logistics.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Next: pricing as the major milestone.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Dependencies: Stone negotiations, joint tech roadmap.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07008"/>
            <a:ext cx="3520440" cy="4892040"/>
          </a:xfrm>
          <a:prstGeom prst="rect">
            <a:avLst/>
          </a:prstGeom>
          <a:solidFill>
            <a:srgbClr val="1C2030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298448"/>
            <a:ext cx="31912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Montserrat"/>
              </a:defRPr>
            </a:pPr>
            <a:r>
              <a:t>🇦🇷  Argentina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74519"/>
            <a:ext cx="319125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0"/>
                </a:solidFill>
                <a:latin typeface="Roboto"/>
              </a:defRPr>
            </a:pPr>
            <a:r>
              <a:t>PSP-first — QR interoperable only if PDV can build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88920"/>
            <a:ext cx="3191256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Pagonube team fully on PSP development.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QR interoperable path under analysis.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After PSP nears launch: revisit acquirer terminals.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207008"/>
            <a:ext cx="3520440" cy="4892040"/>
          </a:xfrm>
          <a:prstGeom prst="rect">
            <a:avLst/>
          </a:prstGeom>
          <a:solidFill>
            <a:srgbClr val="1C2030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298448"/>
            <a:ext cx="31912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Montserrat"/>
              </a:defRPr>
            </a:pPr>
            <a:r>
              <a:t>🇲🇽  Mexico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1874519"/>
            <a:ext cx="319125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ECF0"/>
                </a:solidFill>
                <a:latin typeface="Roboto"/>
              </a:defRPr>
            </a:pPr>
            <a:r>
              <a:t>Capacity-gated — two devs to Pagonube; Stripe engaged.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788920"/>
            <a:ext cx="3191256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Blocked on two new developers ceded to Pagonube.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400">
                <a:solidFill>
                  <a:srgbClr val="E8ECF0"/>
                </a:solidFill>
                <a:latin typeface="Roboto"/>
              </a:defRPr>
            </a:pPr>
            <a:r>
              <a:t>• Stripe stays engaged while decision is open.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276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Roboto"/>
              </a:defRPr>
            </a:pPr>
            <a:r>
              <a:t>Internal steering snapshot — Mar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WHERE WE'RE GOING · UPDATED BUSINESS CASE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01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F0"/>
                </a:solidFill>
                <a:latin typeface="Montserrat"/>
              </a:defRPr>
            </a:pPr>
            <a:r>
              <a:t>The economics justify a sales-led bet — if we sell the stack, not PoS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1109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Roboto"/>
              </a:defRPr>
            </a:pPr>
            <a:r>
              <a:t>Modeled unit economics — monthly USD per AE · This slide: Brazil (Stone). Next: Argentina (dLocal).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9CA3AF"/>
                </a:solidFill>
                <a:latin typeface="Roboto"/>
              </a:defRPr>
            </a:pPr>
            <a:r>
              <a:t>Key insights · PoS + offline pay → ~2–3 mo payback vs ~8 mo PoS-only · UpMarket = fewer deals, higher $/mo · MX out of scope until FX/local economics lock.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155679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0294"/>
                <a:gridCol w="4685385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ADE80"/>
                          </a:solidFill>
                          <a:latin typeface="Roboto"/>
                        </a:defRPr>
                      </a:pPr>
                      <a:r>
                        <a:t>Brazil — Stone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ADE80"/>
                          </a:solidFill>
                          <a:latin typeface="Roboto"/>
                        </a:defRPr>
                      </a:pPr>
                      <a:r>
                        <a:t>PoS — SaaS assumptions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PoS take-rate (% of GMV)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0.25%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PoS subscription (USD/mo)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13.1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PoS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ADE80"/>
                          </a:solidFill>
                          <a:latin typeface="Roboto"/>
                        </a:defRPr>
                      </a:pPr>
                      <a:r>
                        <a:t>Upper SMB (US$5k–20k/mo, avg GMV US$9,963)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Payback total / PoS-only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2.9 mo / 7.6 mo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Deals / month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Revenue total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US$4,964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total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US$1,139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Commercial cost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US$3,248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ADE80"/>
                          </a:solidFill>
                          <a:latin typeface="Roboto"/>
                        </a:defRPr>
                      </a:pPr>
                      <a:r>
                        <a:t>UpMarket (US$20k–200k/mo, avg GMV US$36,917)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Payback total / PoS-only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2.8 mo / 8.8 mo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Deals / month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Revenue total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US$8,336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total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US$1,720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Commercial cost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US$4,872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2910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Roboto"/>
              </a:defRPr>
            </a:pPr>
            <a:r>
              <a:t>Source: PoS GTM Sales Investment · Commercial cost 25% of monthly revenue total · Offline pay adoption 50%.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WHERE WE'RE GOING · UPDATED BUSINESS CASE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201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8ECF0"/>
                </a:solidFill>
                <a:latin typeface="Montserrat"/>
              </a:defRPr>
            </a:pPr>
            <a:r>
              <a:t>Argentina — same model, dLocal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09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Roboto"/>
              </a:defRPr>
            </a:pPr>
            <a:r>
              <a:t>Monthly USD per AE · Upper SMB vs UpMarket (model export).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44752"/>
          <a:ext cx="11155679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0294"/>
                <a:gridCol w="4685385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0A5FA"/>
                          </a:solidFill>
                          <a:latin typeface="Roboto"/>
                        </a:defRPr>
                      </a:pPr>
                      <a:r>
                        <a:t>Argentina — dLocal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0A5FA"/>
                          </a:solidFill>
                          <a:latin typeface="Roboto"/>
                        </a:defRPr>
                      </a:pPr>
                      <a:r>
                        <a:t>PoS — SaaS assumptions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PoS take-rate (% of GMV)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0.25%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PoS subscription (USD/mo)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22.0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PoS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0A5FA"/>
                          </a:solidFill>
                          <a:latin typeface="Roboto"/>
                        </a:defRPr>
                      </a:pPr>
                      <a:r>
                        <a:t>Upper SMB (US$5k–20k/mo, avg GMV US$7,807)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Payback total / PoS-only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2.7 mo / 8.2 mo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Deals / month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Revenue total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US$6,386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total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US$1,399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Commercial cost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US$3,816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0A5FA"/>
                          </a:solidFill>
                          <a:latin typeface="Roboto"/>
                        </a:defRPr>
                      </a:pPr>
                      <a:r>
                        <a:t>UpMarket (US$20k–200k/mo, avg GMV US$41,282)</a:t>
                      </a:r>
                    </a:p>
                  </a:txBody>
                  <a:tcPr>
                    <a:solidFill>
                      <a:srgbClr val="0037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9CA3AF"/>
                          </a:solidFill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00376E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Payback total / PoS-only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2.1 mo / 8.7 mo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Deals / month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Revenue total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US$15,099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Gross margin total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US$2,792</a:t>
                      </a:r>
                    </a:p>
                  </a:txBody>
                  <a:tcPr>
                    <a:solidFill>
                      <a:srgbClr val="122236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Commercial cost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E8ECF0"/>
                          </a:solidFill>
                          <a:latin typeface="Roboto"/>
                        </a:defRPr>
                      </a:pPr>
                      <a:r>
                        <a:t>US$5,724</a:t>
                      </a:r>
                    </a:p>
                  </a:txBody>
                  <a:tcPr>
                    <a:solidFill>
                      <a:srgbClr val="0C1C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91072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D7FE0"/>
                </a:solidFill>
                <a:latin typeface="Roboto"/>
              </a:defRPr>
            </a:pPr>
            <a:r>
              <a:t>Reference: gopedroso.github.io/PoS/GTM-Sales-investment/ · Slide 3 · Sales-Led economics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HOW WE'RE DOING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201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F0"/>
                </a:solidFill>
                <a:latin typeface="Montserrat"/>
              </a:defRPr>
            </a:pPr>
            <a:r>
              <a:t>2026 roadmap — GTM &amp; launch (Brazil · Argentina)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4182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Apr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5353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May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1896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Jun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3066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Jul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9609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6152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7323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3866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5036" y="6181344"/>
            <a:ext cx="51206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Roboto"/>
              </a:defRPr>
            </a:pPr>
            <a:r>
              <a:t>Dec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69264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Credenciamento Stone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2693" y="987552"/>
            <a:ext cx="1141755" cy="2712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313688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Development · BR 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1044" y="1331976"/>
            <a:ext cx="4871491" cy="2712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658112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Development · AR 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1044" y="1676400"/>
            <a:ext cx="2968565" cy="2712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02536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Pricing strategy definition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1204" y="2020824"/>
            <a:ext cx="507447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46960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New prices testing (no payments)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5353" y="2365248"/>
            <a:ext cx="1522341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91384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PM interviews &amp; discovery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61204" y="2709672"/>
            <a:ext cx="964149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35808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GTM launch planning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7428" y="3054096"/>
            <a:ext cx="1547713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380231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PIX campaign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71" y="3398519"/>
            <a:ext cx="1014894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24656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BR · Sales enablement (Payments + PdV)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8865" y="3742943"/>
            <a:ext cx="786542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069080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AR · Pricing strategy (QR)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19395" y="4087368"/>
            <a:ext cx="126861" cy="2712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413504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GTM · AR · PM &amp; launch strategy (QR)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07428" y="4431792"/>
            <a:ext cx="786542" cy="2712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57928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Launch · BR · Pilot launch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1365" y="4776215"/>
            <a:ext cx="761170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02352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Launch · BR · Post-launch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62536" y="5120640"/>
            <a:ext cx="1446224" cy="2712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46776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Launch · AR · Pilot launch (QR)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73066" y="5465064"/>
            <a:ext cx="786542" cy="2712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791200"/>
            <a:ext cx="3429000" cy="326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CF0"/>
                </a:solidFill>
                <a:latin typeface="Roboto"/>
              </a:defRPr>
            </a:pPr>
            <a:r>
              <a:t>Launch · AR · Post-launch review (QR)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4982" y="5809487"/>
            <a:ext cx="1877554" cy="2712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272784"/>
            <a:ext cx="11292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Roboto"/>
              </a:defRPr>
            </a:pPr>
            <a:r>
              <a:t>Legend: Stone · Development · GTM/Launch. * Development (6 Apr → each launch): macro bar — product breaks down internal milestones.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PRICING FRAMEWORK ·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8ECF0"/>
                </a:solidFill>
                <a:latin typeface="Montserrat"/>
              </a:defRPr>
            </a:pPr>
            <a:r>
              <a:t>Pricing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09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2000"/>
              </a:lnSpc>
              <a:defRPr sz="1400">
                <a:solidFill>
                  <a:srgbClr val="9CA3AF"/>
                </a:solidFill>
                <a:latin typeface="Roboto"/>
              </a:defRPr>
            </a:pPr>
            <a:r>
              <a:t>North star: physical GMV and PDV revenue — keep the bill legible, list anchors honest to the market, and settlement + bundle economics visible where deals get made.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27632"/>
            <a:ext cx="2750743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567863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1  🏪  Maximize offline channel results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Measure in-store GMV &amp; PDV-attributed revenue — not ecommerce.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9383" y="1627632"/>
            <a:ext cx="2750743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0823" y="1691640"/>
            <a:ext cx="2567863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2  ✨  Radical simplicity for merchants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Fewer variables; bill readable in one breath.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1567" y="1627632"/>
            <a:ext cx="2750743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691640"/>
            <a:ext cx="2567863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3  🎯  Align price communication to ICP reality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Same list, different framing per archetype (PMM).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3751" y="1627632"/>
            <a:ext cx="2750743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5191" y="1691640"/>
            <a:ext cx="2567863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4  📊  Ground list prices in non-promotional market bands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Sustainable benchmarks; promos distort comparability.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698138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21608"/>
            <a:ext cx="3515258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5  ⏱️  Respect settlement horizon sensitivity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Prazo/anticipation ↔ effective MDR; surface in CRM.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778" y="3657600"/>
            <a:ext cx="3698138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218" y="3721608"/>
            <a:ext cx="3515258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6  📈  Monitor repricing and conversion jointly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Price = product surface; watch funnel &amp; tickets by segment.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6356" y="3657600"/>
            <a:ext cx="3698138" cy="1938528"/>
          </a:xfrm>
          <a:prstGeom prst="rect">
            <a:avLst/>
          </a:prstGeom>
          <a:solidFill>
            <a:srgbClr val="161E34"/>
          </a:solidFill>
          <a:ln w="12700">
            <a:solidFill>
              <a:srgbClr val="5A6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3721608"/>
            <a:ext cx="3515258" cy="1828800"/>
          </a:xfrm>
          <a:prstGeom prst="rect">
            <a:avLst/>
          </a:prstGeom>
          <a:noFill/>
        </p:spPr>
        <p:txBody>
          <a:bodyPr wrap="square" anchor="t" bIns="0" tIns="0">
            <a:spAutoFit/>
          </a:bodyPr>
          <a:lstStyle/>
          <a:p>
            <a:pPr>
              <a:lnSpc>
                <a:spcPct val="112000"/>
              </a:lnSpc>
              <a:defRPr sz="1200" b="1">
                <a:solidFill>
                  <a:srgbClr val="E8ECF0"/>
                </a:solidFill>
                <a:latin typeface="Montserrat"/>
              </a:defRPr>
            </a:pPr>
            <a:r>
              <a:t>7  🔗  Bundle economics with PoS</a:t>
            </a:r>
          </a:p>
          <a:p>
            <a:pPr>
              <a:lnSpc>
                <a:spcPct val="115000"/>
              </a:lnSpc>
              <a:spcBef>
                <a:spcPts val="700"/>
              </a:spcBef>
              <a:defRPr sz="1100">
                <a:solidFill>
                  <a:srgbClr val="9CA3AF"/>
                </a:solidFill>
                <a:latin typeface="Roboto"/>
              </a:defRPr>
            </a:pPr>
            <a:r>
              <a:t>Payments on physical GMV + PoS SaaS — not either line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Roboto"/>
              </a:defRPr>
            </a:pPr>
            <a:r>
              <a:t>Source: PRICING-PRINCIPLES-AND-SCENARIOS (working draft).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D7FE0"/>
                </a:solidFill>
                <a:latin typeface="Montserrat"/>
              </a:defRPr>
            </a:pPr>
            <a:r>
              <a:t>PRICING FRAMEWORK · STEERING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F0"/>
                </a:solidFill>
                <a:latin typeface="Montserrat"/>
              </a:defRPr>
            </a:pPr>
            <a:r>
              <a:t>Where should we put the balance?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96112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E8ECF0"/>
                </a:solidFill>
                <a:latin typeface="Roboto"/>
              </a:defRPr>
            </a:pPr>
            <a:r>
              <a:t>Simplicity vs economic precision: hitting NOTR/segment targets perfectly often means more plans and exceptions. Examples: CPT waiver; invoicing inside CPT; how many offline/PdV plan variants we 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71907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81051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SIMPLICITY — DESCRIPTION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CPT waiver when merchants adopt Nuvem Pago; fold invoicing into CPT instead of a separate invoice line. Also: number of distinct offline/PdV commercial plans — each plan is another story for sales, support, and the statement.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318211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327355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SIMPLICITY — PROS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Faster merchant comprehension; easier enablement; lower ops load on edge cases.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464515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73659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SIMPLICITY — CONS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May blur who subsidizes whom; harder to micro-tune NOTR per segment; risk of leaving revenue on the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1907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1051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ECONOMIC OUTPUT — DESCRIPTION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North star: offline GMV &amp; revenue. We still want NOTR guardrails, non-promo list anchors, settlement visible in quoting, and a repricing loop — but perfect economics on every segment often requires more granularity than a single simple facade.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18211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27355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ECONOMIC OUTPUT — PROS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Tighter BC &amp; acquirer alignment; room for Upmarket vs SMB; clearer internal P&amp;L per lever.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645152"/>
            <a:ext cx="5440680" cy="1389888"/>
          </a:xfrm>
          <a:prstGeom prst="rect">
            <a:avLst/>
          </a:prstGeom>
          <a:solidFill>
            <a:srgbClr val="0C1C30"/>
          </a:solidFill>
          <a:ln w="15875">
            <a:solidFill>
              <a:srgbClr val="3D7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4736592"/>
            <a:ext cx="522122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7FE0"/>
                </a:solidFill>
                <a:latin typeface="Montserrat"/>
              </a:defRPr>
            </a:pPr>
            <a:r>
              <a:t>ECONOMIC OUTPUT — CONS</a:t>
            </a:r>
          </a:p>
          <a:p>
            <a:pPr>
              <a:lnSpc>
                <a:spcPct val="122000"/>
              </a:lnSpc>
              <a:spcBef>
                <a:spcPts val="600"/>
              </a:spcBef>
              <a:defRPr sz="1200">
                <a:solidFill>
                  <a:srgbClr val="E8ECF0"/>
                </a:solidFill>
                <a:latin typeface="Roboto"/>
              </a:defRPr>
            </a:pPr>
            <a:r>
              <a:t>Higher cognitive load; support/sales friction; quote-cycle length; complexity debt on every new lever.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309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D7FE0"/>
                </a:solidFill>
                <a:latin typeface="Roboto"/>
              </a:defRPr>
            </a:pPr>
            <a:r>
              <a:t>Committee question: maximum simplicity vs maximum precision vs hybrid (simple facade + controlled back-end segmentation) for 2026?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